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n Juan" userId="38360f0bb526f7b0" providerId="LiveId" clId="{3D80B024-A106-43F4-AA74-F3CFE2B880A4}"/>
    <pc:docChg chg="modSld">
      <pc:chgData name="Julian Juan" userId="38360f0bb526f7b0" providerId="LiveId" clId="{3D80B024-A106-43F4-AA74-F3CFE2B880A4}" dt="2026-06-24T02:15:36.351" v="19" actId="20577"/>
      <pc:docMkLst>
        <pc:docMk/>
      </pc:docMkLst>
      <pc:sldChg chg="modSp mod">
        <pc:chgData name="Julian Juan" userId="38360f0bb526f7b0" providerId="LiveId" clId="{3D80B024-A106-43F4-AA74-F3CFE2B880A4}" dt="2026-06-24T02:15:36.351" v="19" actId="20577"/>
        <pc:sldMkLst>
          <pc:docMk/>
          <pc:sldMk cId="0" sldId="257"/>
        </pc:sldMkLst>
        <pc:spChg chg="mod">
          <ac:chgData name="Julian Juan" userId="38360f0bb526f7b0" providerId="LiveId" clId="{3D80B024-A106-43F4-AA74-F3CFE2B880A4}" dt="2026-06-24T02:15:36.351" v="19" actId="20577"/>
          <ac:spMkLst>
            <pc:docMk/>
            <pc:sldMk cId="0" sldId="257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D0E8F5"/>
                </a:solidFill>
              </a:rPr>
              <a:t>EIC  ·  Zero Degree Calorimeter  ·  Monte Carlo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ZDC Energy Reconstruction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E8F5"/>
                </a:solidFill>
              </a:rPr>
              <a:t>Gamma (0.7 – 40 GeV)   |   Neutron (20 – 300 GeV)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331720"/>
            <a:ext cx="12188952" cy="36576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1">
                <a:solidFill>
                  <a:srgbClr val="0F89CA"/>
                </a:solidFill>
              </a:rPr>
              <a:t>Background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FFFFFF"/>
                </a:solidFill>
              </a:rPr>
              <a:t>The Electron-Ion Collider (EIC) will collide electrons with protons and nuclei. The Zero Degree Calorimeter (ZDC) sits at 0° and catches neutral particles (neutrons, photons) that travel straight through the bending magnets.</a:t>
            </a:r>
          </a:p>
          <a:p>
            <a:pPr algn="l">
              <a:spcBef>
                <a:spcPts val="400"/>
              </a:spcBef>
            </a:pPr>
            <a:endParaRPr sz="1600" b="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89CA"/>
                </a:solidFill>
              </a:rPr>
              <a:t>Goal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FFFFFF"/>
                </a:solidFill>
              </a:rPr>
              <a:t>Determine how well the ZDC can measure the energy of these particles using Monte Carlo simulations, and check if performance meets physics requirements.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560320"/>
            <a:ext cx="3474720" cy="3200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9CA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1">
                <a:solidFill>
                  <a:srgbClr val="FFD700"/>
                </a:solidFill>
              </a:rPr>
              <a:t>Detector layers</a:t>
            </a:r>
          </a:p>
          <a:p>
            <a:pPr algn="l">
              <a:spcBef>
                <a:spcPts val="200"/>
              </a:spcBef>
            </a:pPr>
            <a:endParaRPr sz="1400" b="1">
              <a:solidFill>
                <a:srgbClr val="FFD700"/>
              </a:solidFill>
            </a:endParaRP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D0E8F5"/>
                </a:solidFill>
              </a:rPr>
              <a:t>ECAL  —  LYSO crystals + SiPM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CCCCCC"/>
                </a:solidFill>
              </a:rPr>
              <a:t>Detects: photons, electrons</a:t>
            </a:r>
          </a:p>
          <a:p>
            <a:pPr algn="l">
              <a:spcBef>
                <a:spcPts val="200"/>
              </a:spcBef>
            </a:pPr>
            <a:endParaRPr sz="1400" b="0">
              <a:solidFill>
                <a:srgbClr val="CCCCCC"/>
              </a:solidFill>
            </a:endParaRP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D0E8F5"/>
                </a:solidFill>
              </a:rPr>
              <a:t>HCAL  —  Steel + scintillator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CCCCCC"/>
                </a:solidFill>
              </a:rPr>
              <a:t>Detects: neutrons, hadrons</a:t>
            </a:r>
          </a:p>
          <a:p>
            <a:pPr algn="l">
              <a:spcBef>
                <a:spcPts val="200"/>
              </a:spcBef>
            </a:pPr>
            <a:endParaRPr sz="1400" b="0">
              <a:solidFill>
                <a:srgbClr val="CCCCCC"/>
              </a:solidFill>
            </a:endParaRP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</a:rPr>
              <a:t>Both layers needed to fully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FFFFFF"/>
                </a:solidFill>
              </a:rPr>
              <a:t>reconstruct particle energy.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09728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CCCCCC"/>
                </a:solidFill>
              </a:rPr>
              <a:t>ASIoP  ·  Explore MC-sim data for ZDC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</a:rPr>
              <a:t>From Raw Data to Graph Axes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D0E8F5"/>
                </a:solidFill>
              </a:rPr>
              <a:t>Every variable defined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1300" b="1">
                <a:solidFill>
                  <a:srgbClr val="FFD700"/>
                </a:solidFill>
              </a:rPr>
              <a:t>Step 1 — Simulation output (raw data)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D0E8F5"/>
                </a:solidFill>
              </a:rPr>
              <a:t>Each simulated particle event gives:</a:t>
            </a:r>
          </a:p>
          <a:p>
            <a:pPr algn="l">
              <a:spcBef>
                <a:spcPts val="100"/>
              </a:spcBef>
            </a:pPr>
            <a:endParaRPr sz="1300" b="0">
              <a:solidFill>
                <a:srgbClr val="D0E8F5"/>
              </a:solidFill>
            </a:endParaRP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FFFFFF"/>
                </a:solidFill>
              </a:rPr>
              <a:t>  E_beam   True beam energy (GeV). Set by simulation. This is what we want to reconstruct.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FFFFFF"/>
                </a:solidFill>
              </a:rPr>
              <a:t>  E_ECAL   Energy deposited in the ECAL layer (GeV). Measured signal.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FFFFFF"/>
                </a:solidFill>
              </a:rPr>
              <a:t>  E_HCAL   Energy deposited in the HCAL layer (GeV). Measured signal.</a:t>
            </a:r>
          </a:p>
          <a:p>
            <a:pPr algn="l">
              <a:spcBef>
                <a:spcPts val="100"/>
              </a:spcBef>
            </a:pPr>
            <a:endParaRPr sz="1300" b="0">
              <a:solidFill>
                <a:srgbClr val="FFFFFF"/>
              </a:solidFill>
            </a:endParaRP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CCCCCC"/>
                </a:solidFill>
              </a:rPr>
              <a:t>These three numbers exist for every event. All other quantities are derived.</a:t>
            </a:r>
          </a:p>
          <a:p>
            <a:pPr algn="l">
              <a:spcBef>
                <a:spcPts val="100"/>
              </a:spcBef>
            </a:pPr>
            <a:endParaRPr sz="1300" b="0">
              <a:solidFill>
                <a:srgbClr val="CCCCCC"/>
              </a:solidFill>
            </a:endParaRPr>
          </a:p>
          <a:p>
            <a:pPr algn="l">
              <a:spcBef>
                <a:spcPts val="100"/>
              </a:spcBef>
            </a:pPr>
            <a:r>
              <a:rPr sz="1300" b="1">
                <a:solidFill>
                  <a:srgbClr val="FFD700"/>
                </a:solidFill>
              </a:rPr>
              <a:t>Step 2 — Energy reconstruction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D0E8F5"/>
                </a:solidFill>
              </a:rPr>
              <a:t>Combine the two detector signals into one energy estimate:</a:t>
            </a:r>
          </a:p>
          <a:p>
            <a:pPr algn="l">
              <a:spcBef>
                <a:spcPts val="100"/>
              </a:spcBef>
            </a:pPr>
            <a:endParaRPr sz="1300" b="0">
              <a:solidFill>
                <a:srgbClr val="D0E8F5"/>
              </a:solidFill>
            </a:endParaRP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5CD65C"/>
                </a:solidFill>
              </a:rPr>
              <a:t>  E_rec  =  p0 + p1·E_ECAL + p2·E_HCAL</a:t>
            </a:r>
          </a:p>
          <a:p>
            <a:pPr algn="l">
              <a:spcBef>
                <a:spcPts val="100"/>
              </a:spcBef>
            </a:pPr>
            <a:endParaRPr sz="1300" b="0">
              <a:solidFill>
                <a:srgbClr val="5CD65C"/>
              </a:solidFill>
            </a:endParaRP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FFFFFF"/>
                </a:solidFill>
              </a:rPr>
              <a:t>p0, p1, p2 are fit parameters found by least-squares regression across all simulated events. Three regression methods are used: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D0E8F5"/>
                </a:solidFill>
              </a:rPr>
              <a:t>  m0 — Linear    m1 — Ratio    m2 — Quadratic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FFFFFF"/>
                </a:solidFill>
              </a:rPr>
              <a:t>Two weighting schemes: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D0E8F5"/>
                </a:solidFill>
              </a:rPr>
              <a:t>  w0 — all energies equal weight</a:t>
            </a:r>
          </a:p>
          <a:p>
            <a:pPr algn="l">
              <a:spcBef>
                <a:spcPts val="100"/>
              </a:spcBef>
            </a:pPr>
            <a:r>
              <a:rPr sz="1300" b="0">
                <a:solidFill>
                  <a:srgbClr val="D0E8F5"/>
                </a:solidFill>
              </a:rPr>
              <a:t>  w1 — weight each event by √E_beam  (emphasises low-energy accuracy)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88720"/>
            <a:ext cx="5943600" cy="5303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9CA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1300" b="1" dirty="0">
                <a:solidFill>
                  <a:srgbClr val="FFD700"/>
                </a:solidFill>
              </a:rPr>
              <a:t>Step 3 — Per-event ratio</a:t>
            </a:r>
          </a:p>
          <a:p>
            <a:pPr algn="l">
              <a:spcBef>
                <a:spcPts val="100"/>
              </a:spcBef>
            </a:pPr>
            <a:endParaRPr sz="1300" b="1" dirty="0">
              <a:solidFill>
                <a:srgbClr val="FFD700"/>
              </a:solidFill>
            </a:endParaRPr>
          </a:p>
          <a:p>
            <a:pPr algn="l">
              <a:spcBef>
                <a:spcPts val="100"/>
              </a:spcBef>
            </a:pPr>
            <a:r>
              <a:rPr sz="1300" b="0" dirty="0">
                <a:solidFill>
                  <a:srgbClr val="5CD65C"/>
                </a:solidFill>
              </a:rPr>
              <a:t>  r  =  </a:t>
            </a:r>
            <a:r>
              <a:rPr sz="1300" b="0" dirty="0" err="1">
                <a:solidFill>
                  <a:srgbClr val="5CD65C"/>
                </a:solidFill>
              </a:rPr>
              <a:t>E_rec</a:t>
            </a:r>
            <a:r>
              <a:rPr sz="1300" b="0" dirty="0">
                <a:solidFill>
                  <a:srgbClr val="5CD65C"/>
                </a:solidFill>
              </a:rPr>
              <a:t> / </a:t>
            </a:r>
            <a:r>
              <a:rPr sz="1300" b="0" dirty="0" err="1">
                <a:solidFill>
                  <a:srgbClr val="5CD65C"/>
                </a:solidFill>
              </a:rPr>
              <a:t>E_beam</a:t>
            </a:r>
            <a:endParaRPr sz="1300" b="0" dirty="0">
              <a:solidFill>
                <a:srgbClr val="5CD65C"/>
              </a:solidFill>
            </a:endParaRPr>
          </a:p>
          <a:p>
            <a:pPr algn="l">
              <a:spcBef>
                <a:spcPts val="100"/>
              </a:spcBef>
            </a:pPr>
            <a:endParaRPr sz="1300" b="0" dirty="0">
              <a:solidFill>
                <a:srgbClr val="5CD65C"/>
              </a:solidFill>
            </a:endParaRPr>
          </a:p>
          <a:p>
            <a:pPr algn="l">
              <a:spcBef>
                <a:spcPts val="100"/>
              </a:spcBef>
            </a:pPr>
            <a:r>
              <a:rPr sz="1300" b="0" dirty="0">
                <a:solidFill>
                  <a:srgbClr val="FFFFFF"/>
                </a:solidFill>
              </a:rPr>
              <a:t>r = 1.0  →  perfect reconstruction</a:t>
            </a:r>
          </a:p>
          <a:p>
            <a:pPr algn="l">
              <a:spcBef>
                <a:spcPts val="100"/>
              </a:spcBef>
            </a:pPr>
            <a:r>
              <a:rPr sz="1300" b="0" dirty="0">
                <a:solidFill>
                  <a:srgbClr val="FFFFFF"/>
                </a:solidFill>
              </a:rPr>
              <a:t>r &gt; 1.0  →  overestimated</a:t>
            </a:r>
          </a:p>
          <a:p>
            <a:pPr algn="l">
              <a:spcBef>
                <a:spcPts val="100"/>
              </a:spcBef>
            </a:pPr>
            <a:r>
              <a:rPr sz="1300" b="0" dirty="0">
                <a:solidFill>
                  <a:srgbClr val="FFFFFF"/>
                </a:solidFill>
              </a:rPr>
              <a:t>r &lt; 1.0  →  underestimated</a:t>
            </a:r>
          </a:p>
          <a:p>
            <a:pPr algn="l">
              <a:spcBef>
                <a:spcPts val="100"/>
              </a:spcBef>
            </a:pPr>
            <a:endParaRPr sz="1300" b="0" dirty="0">
              <a:solidFill>
                <a:srgbClr val="FFFFFF"/>
              </a:solidFill>
            </a:endParaRPr>
          </a:p>
          <a:p>
            <a:pPr algn="l">
              <a:spcBef>
                <a:spcPts val="100"/>
              </a:spcBef>
            </a:pPr>
            <a:r>
              <a:rPr sz="1300" b="1" dirty="0">
                <a:solidFill>
                  <a:srgbClr val="FFD700"/>
                </a:solidFill>
              </a:rPr>
              <a:t>Step 4 — Histogram &amp; DCB fit</a:t>
            </a:r>
          </a:p>
          <a:p>
            <a:pPr algn="l">
              <a:spcBef>
                <a:spcPts val="100"/>
              </a:spcBef>
            </a:pPr>
            <a:r>
              <a:rPr sz="1300" b="0" dirty="0">
                <a:solidFill>
                  <a:srgbClr val="FFFFFF"/>
                </a:solidFill>
              </a:rPr>
              <a:t>Collect r for all events at one beam energy.</a:t>
            </a:r>
          </a:p>
          <a:p>
            <a:pPr algn="l">
              <a:spcBef>
                <a:spcPts val="100"/>
              </a:spcBef>
            </a:pPr>
            <a:r>
              <a:rPr sz="1300" b="0" dirty="0">
                <a:solidFill>
                  <a:srgbClr val="FFFFFF"/>
                </a:solidFill>
              </a:rPr>
              <a:t>Fit with Double Crystal Ball (bell curve with power-law tails).</a:t>
            </a:r>
          </a:p>
          <a:p>
            <a:pPr algn="l">
              <a:spcBef>
                <a:spcPts val="100"/>
              </a:spcBef>
            </a:pPr>
            <a:r>
              <a:rPr sz="1300" b="0" dirty="0">
                <a:solidFill>
                  <a:srgbClr val="D0E8F5"/>
                </a:solidFill>
              </a:rPr>
              <a:t>Extract two numbers:</a:t>
            </a:r>
          </a:p>
          <a:p>
            <a:pPr algn="l">
              <a:spcBef>
                <a:spcPts val="100"/>
              </a:spcBef>
            </a:pPr>
            <a:endParaRPr sz="1300" b="0" dirty="0">
              <a:solidFill>
                <a:srgbClr val="D0E8F5"/>
              </a:solidFill>
            </a:endParaRPr>
          </a:p>
          <a:p>
            <a:pPr algn="l">
              <a:spcBef>
                <a:spcPts val="100"/>
              </a:spcBef>
            </a:pPr>
            <a:r>
              <a:rPr sz="1300" b="0" dirty="0">
                <a:solidFill>
                  <a:srgbClr val="5CD65C"/>
                </a:solidFill>
              </a:rPr>
              <a:t>  μ  (mu)    =  mean of fit  →  bias</a:t>
            </a:r>
          </a:p>
          <a:p>
            <a:pPr algn="l">
              <a:spcBef>
                <a:spcPts val="100"/>
              </a:spcBef>
            </a:pPr>
            <a:r>
              <a:rPr sz="1300" b="0" dirty="0">
                <a:solidFill>
                  <a:srgbClr val="5CD65C"/>
                </a:solidFill>
              </a:rPr>
              <a:t>  σ  (sigma) =  width of fit →  resolution</a:t>
            </a:r>
          </a:p>
          <a:p>
            <a:pPr algn="l">
              <a:spcBef>
                <a:spcPts val="100"/>
              </a:spcBef>
            </a:pPr>
            <a:endParaRPr sz="1300" b="0" dirty="0">
              <a:solidFill>
                <a:srgbClr val="5CD65C"/>
              </a:solidFill>
            </a:endParaRPr>
          </a:p>
          <a:p>
            <a:pPr algn="l">
              <a:spcBef>
                <a:spcPts val="100"/>
              </a:spcBef>
            </a:pPr>
            <a:r>
              <a:rPr sz="1300" b="1" dirty="0">
                <a:solidFill>
                  <a:srgbClr val="FFD700"/>
                </a:solidFill>
              </a:rPr>
              <a:t>Step 5 — Graph axes</a:t>
            </a:r>
          </a:p>
          <a:p>
            <a:pPr algn="l">
              <a:spcBef>
                <a:spcPts val="100"/>
              </a:spcBef>
            </a:pPr>
            <a:endParaRPr sz="1300" b="1" dirty="0">
              <a:solidFill>
                <a:srgbClr val="FFD700"/>
              </a:solidFill>
            </a:endParaRPr>
          </a:p>
          <a:p>
            <a:pPr algn="l">
              <a:spcBef>
                <a:spcPts val="100"/>
              </a:spcBef>
            </a:pPr>
            <a:r>
              <a:rPr sz="1300" b="0" dirty="0">
                <a:solidFill>
                  <a:srgbClr val="FFFFFF"/>
                </a:solidFill>
              </a:rPr>
              <a:t>Slide 5 x-axis:  </a:t>
            </a:r>
            <a:r>
              <a:rPr sz="1300" b="0" dirty="0" err="1">
                <a:solidFill>
                  <a:srgbClr val="FFFFFF"/>
                </a:solidFill>
              </a:rPr>
              <a:t>E_beam</a:t>
            </a:r>
            <a:r>
              <a:rPr sz="1300" b="0" dirty="0">
                <a:solidFill>
                  <a:srgbClr val="FFFFFF"/>
                </a:solidFill>
              </a:rPr>
              <a:t> (GeV)</a:t>
            </a:r>
          </a:p>
          <a:p>
            <a:pPr algn="l">
              <a:spcBef>
                <a:spcPts val="100"/>
              </a:spcBef>
            </a:pPr>
            <a:r>
              <a:rPr sz="1300" b="0" dirty="0">
                <a:solidFill>
                  <a:srgbClr val="FFFFFF"/>
                </a:solidFill>
              </a:rPr>
              <a:t>Slide 5 y-axis:  mean(</a:t>
            </a:r>
            <a:r>
              <a:rPr sz="1300" b="0" dirty="0" err="1">
                <a:solidFill>
                  <a:srgbClr val="FFFFFF"/>
                </a:solidFill>
              </a:rPr>
              <a:t>E_sub</a:t>
            </a:r>
            <a:r>
              <a:rPr lang="en-US" sz="1300" dirty="0" err="1">
                <a:solidFill>
                  <a:srgbClr val="FFFFFF"/>
                </a:solidFill>
              </a:rPr>
              <a:t>detector</a:t>
            </a:r>
            <a:r>
              <a:rPr sz="1300" b="0" dirty="0">
                <a:solidFill>
                  <a:srgbClr val="FFFFFF"/>
                </a:solidFill>
              </a:rPr>
              <a:t> / </a:t>
            </a:r>
            <a:r>
              <a:rPr sz="1300" b="0" dirty="0" err="1">
                <a:solidFill>
                  <a:srgbClr val="FFFFFF"/>
                </a:solidFill>
              </a:rPr>
              <a:t>E_beam</a:t>
            </a:r>
            <a:r>
              <a:rPr sz="1300" b="0" dirty="0">
                <a:solidFill>
                  <a:srgbClr val="FFFFFF"/>
                </a:solidFill>
              </a:rPr>
              <a:t>)  per beam energy</a:t>
            </a:r>
          </a:p>
          <a:p>
            <a:pPr algn="l">
              <a:spcBef>
                <a:spcPts val="100"/>
              </a:spcBef>
            </a:pPr>
            <a:r>
              <a:rPr sz="1300" b="0" dirty="0">
                <a:solidFill>
                  <a:srgbClr val="FFFFFF"/>
                </a:solidFill>
              </a:rPr>
              <a:t>Slide 6 x-axis:  r = </a:t>
            </a:r>
            <a:r>
              <a:rPr sz="1300" b="0" dirty="0" err="1">
                <a:solidFill>
                  <a:srgbClr val="FFFFFF"/>
                </a:solidFill>
              </a:rPr>
              <a:t>E_rec</a:t>
            </a:r>
            <a:r>
              <a:rPr sz="1300" b="0" dirty="0">
                <a:solidFill>
                  <a:srgbClr val="FFFFFF"/>
                </a:solidFill>
              </a:rPr>
              <a:t> / </a:t>
            </a:r>
            <a:r>
              <a:rPr sz="1300" b="0" dirty="0" err="1">
                <a:solidFill>
                  <a:srgbClr val="FFFFFF"/>
                </a:solidFill>
              </a:rPr>
              <a:t>E_beam</a:t>
            </a:r>
            <a:r>
              <a:rPr sz="1300" b="0" dirty="0">
                <a:solidFill>
                  <a:srgbClr val="FFFFFF"/>
                </a:solidFill>
              </a:rPr>
              <a:t>  (single energy)</a:t>
            </a:r>
          </a:p>
          <a:p>
            <a:pPr algn="l">
              <a:spcBef>
                <a:spcPts val="100"/>
              </a:spcBef>
            </a:pPr>
            <a:r>
              <a:rPr sz="1300" b="0" dirty="0">
                <a:solidFill>
                  <a:srgbClr val="FFFFFF"/>
                </a:solidFill>
              </a:rPr>
              <a:t>Slide 6 y-axis:  event count</a:t>
            </a:r>
          </a:p>
          <a:p>
            <a:pPr algn="l">
              <a:spcBef>
                <a:spcPts val="100"/>
              </a:spcBef>
            </a:pPr>
            <a:r>
              <a:rPr sz="1300" b="0" dirty="0">
                <a:solidFill>
                  <a:srgbClr val="FFFFFF"/>
                </a:solidFill>
              </a:rPr>
              <a:t>Slides 7-8 x:    </a:t>
            </a:r>
            <a:r>
              <a:rPr sz="1300" b="0" dirty="0" err="1">
                <a:solidFill>
                  <a:srgbClr val="FFFFFF"/>
                </a:solidFill>
              </a:rPr>
              <a:t>E_beam</a:t>
            </a:r>
            <a:r>
              <a:rPr sz="1300" b="0" dirty="0">
                <a:solidFill>
                  <a:srgbClr val="FFFFFF"/>
                </a:solidFill>
              </a:rPr>
              <a:t> (GeV)</a:t>
            </a:r>
          </a:p>
          <a:p>
            <a:pPr algn="l">
              <a:spcBef>
                <a:spcPts val="100"/>
              </a:spcBef>
            </a:pPr>
            <a:r>
              <a:rPr sz="1300" b="0" dirty="0">
                <a:solidFill>
                  <a:srgbClr val="FFFFFF"/>
                </a:solidFill>
              </a:rPr>
              <a:t>Slides 7-8 y:    σ (resolution)  or  μ (bias)  from DCB fit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</a:rPr>
              <a:t>Method &amp;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D0E8F5"/>
                </a:solidFill>
              </a:rPr>
              <a:t>How we go from signals to performance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 b="1">
                <a:solidFill>
                  <a:srgbClr val="FFD700"/>
                </a:solidFill>
              </a:rPr>
              <a:t>Why two detectors?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Gammas deposit ~30–50% of energy in ECAL, almost none in HCAL. Neutrons are the opposite. Using both signals together gives a more complete picture.</a:t>
            </a:r>
          </a:p>
          <a:p>
            <a:pPr algn="l">
              <a:spcBef>
                <a:spcPts val="300"/>
              </a:spcBef>
            </a:pPr>
            <a:endParaRPr sz="1400" b="0">
              <a:solidFill>
                <a:srgbClr val="FFFFFF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>
                <a:solidFill>
                  <a:srgbClr val="FFD700"/>
                </a:solidFill>
              </a:rPr>
              <a:t>Why regression?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Raw signals are not equal to energy — there is leakage, dead material, and non-linearity. Regression learns the correction from simulation.</a:t>
            </a:r>
          </a:p>
          <a:p>
            <a:pPr algn="l">
              <a:spcBef>
                <a:spcPts val="300"/>
              </a:spcBef>
            </a:pPr>
            <a:endParaRPr sz="1400" b="0">
              <a:solidFill>
                <a:srgbClr val="FFFFFF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>
                <a:solidFill>
                  <a:srgbClr val="FFD700"/>
                </a:solidFill>
              </a:rPr>
              <a:t>Why √E weighting?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Equal weighting lets high-energy events dominate the fit (they have bigger absolute residuals). √E weighting balances accuracy across the full energy range.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188720"/>
            <a:ext cx="4023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 b="1">
                <a:solidFill>
                  <a:srgbClr val="FFD700"/>
                </a:solidFill>
              </a:rPr>
              <a:t>Why DCB fit?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Real detector distributions have heavier tails than a pure Gaussian — energy leaking out the sides creates a low-side tail, shower fluctuations create a high-side tail. The Double Crystal Ball handles both.</a:t>
            </a:r>
          </a:p>
          <a:p>
            <a:pPr algn="l">
              <a:spcBef>
                <a:spcPts val="300"/>
              </a:spcBef>
            </a:pPr>
            <a:endParaRPr sz="1400" b="0">
              <a:solidFill>
                <a:srgbClr val="FFFFFF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>
                <a:solidFill>
                  <a:srgbClr val="FFD700"/>
                </a:solidFill>
              </a:rPr>
              <a:t>The requirement curve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5CD65C"/>
                </a:solidFill>
              </a:rPr>
              <a:t>σ(E)  =  p0 / √E  +  0.05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FFFFFF"/>
                </a:solidFill>
              </a:rPr>
              <a:t>Physics demands resolution better than this threshold.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D0E8F5"/>
                </a:solidFill>
              </a:rPr>
              <a:t>  Gamma:   p0 = 0.20  (new target)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D0E8F5"/>
                </a:solidFill>
              </a:rPr>
              <a:t>  Neutron: p0 = 0.35  (new target)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CCCCCC"/>
                </a:solidFill>
              </a:rPr>
              <a:t>The 0.05 floor is irreducible — calibration and geometry limits.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188720"/>
            <a:ext cx="3657600" cy="5303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9CA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>
                <a:solidFill>
                  <a:srgbClr val="FFD700"/>
                </a:solidFill>
              </a:rPr>
              <a:t>6 method combinations</a:t>
            </a:r>
          </a:p>
          <a:p>
            <a:pPr algn="l">
              <a:spcBef>
                <a:spcPts val="200"/>
              </a:spcBef>
            </a:pPr>
            <a:endParaRPr sz="1300" b="1">
              <a:solidFill>
                <a:srgbClr val="FFD700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m0 w0 — Linear, Equal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m1 w0 — Ratio,  Equal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m2 w0 — Quadratic, Equal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m0 w1 — Linear, √E-weighted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m1 w1 — Ratio,  √E-weighted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m2 w1 — Quadratic, √E-weighted</a:t>
            </a:r>
          </a:p>
          <a:p>
            <a:pPr algn="l">
              <a:spcBef>
                <a:spcPts val="200"/>
              </a:spcBef>
            </a:pPr>
            <a:endParaRPr sz="1300" b="0">
              <a:solidFill>
                <a:srgbClr val="FFFFFF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D0E8F5"/>
                </a:solidFill>
              </a:rPr>
              <a:t>All six appear on resolution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D0E8F5"/>
                </a:solidFill>
              </a:rPr>
              <a:t>and bias plots. Compare them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D0E8F5"/>
                </a:solidFill>
              </a:rPr>
              <a:t>to find best-performing method.</a:t>
            </a:r>
          </a:p>
          <a:p>
            <a:pPr algn="l">
              <a:spcBef>
                <a:spcPts val="200"/>
              </a:spcBef>
            </a:pPr>
            <a:endParaRPr sz="1300" b="0">
              <a:solidFill>
                <a:srgbClr val="D0E8F5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FFD700"/>
                </a:solidFill>
              </a:rPr>
              <a:t>Output files: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CD65C"/>
                </a:solidFill>
              </a:rPr>
              <a:t>res2_1_m{0-2}_w{0-1}_{particle}.root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Each stores gReso_dcb and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gBias_dcb — one point per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beam energy tested.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</a:rPr>
              <a:t>Energy Deposition vs Beam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D0E8F5"/>
                </a:solidFill>
              </a:rPr>
              <a:t>How much of the particle's energy does each detector layer actually see?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5_energy_du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3000"/>
            <a:ext cx="8229600" cy="44933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0" y="1188720"/>
            <a:ext cx="3383280" cy="5303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9CA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>
                <a:solidFill>
                  <a:srgbClr val="FFD700"/>
                </a:solidFill>
              </a:rPr>
              <a:t>What the axes mean</a:t>
            </a:r>
          </a:p>
          <a:p>
            <a:pPr algn="l">
              <a:spcBef>
                <a:spcPts val="200"/>
              </a:spcBef>
            </a:pPr>
            <a:endParaRPr sz="1300" b="1">
              <a:solidFill>
                <a:srgbClr val="FFD700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D0E8F5"/>
                </a:solidFill>
              </a:rPr>
              <a:t>x-axis:  E_beam (GeV)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True simulated beam energy.</a:t>
            </a:r>
          </a:p>
          <a:p>
            <a:pPr algn="l">
              <a:spcBef>
                <a:spcPts val="200"/>
              </a:spcBef>
            </a:pPr>
            <a:endParaRPr sz="1300" b="0">
              <a:solidFill>
                <a:srgbClr val="FFFFFF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D0E8F5"/>
                </a:solidFill>
              </a:rPr>
              <a:t>y-axis:  E_sub / E_beam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Fraction of beam energy seen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by ECAL, HCAL, or both.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Averaged over all events at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that beam energy.</a:t>
            </a:r>
          </a:p>
          <a:p>
            <a:pPr algn="l">
              <a:spcBef>
                <a:spcPts val="200"/>
              </a:spcBef>
            </a:pPr>
            <a:endParaRPr sz="1300" b="0">
              <a:solidFill>
                <a:srgbClr val="FFFFFF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FFD700"/>
                </a:solidFill>
              </a:rPr>
              <a:t>Observations</a:t>
            </a:r>
          </a:p>
          <a:p>
            <a:pPr algn="l">
              <a:spcBef>
                <a:spcPts val="200"/>
              </a:spcBef>
            </a:pPr>
            <a:endParaRPr sz="1300" b="1">
              <a:solidFill>
                <a:srgbClr val="FFD700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Gamma ECAL: 0.5 → 0.15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CCCCC"/>
                </a:solidFill>
              </a:rPr>
              <a:t>Falls with energy (saturation).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CCCCC"/>
                </a:solidFill>
              </a:rPr>
              <a:t>HCAL: tiny (10⁻³ scale).</a:t>
            </a:r>
          </a:p>
          <a:p>
            <a:pPr algn="l">
              <a:spcBef>
                <a:spcPts val="200"/>
              </a:spcBef>
            </a:pPr>
            <a:endParaRPr sz="1300" b="0">
              <a:solidFill>
                <a:srgbClr val="CCCCCC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Neutron ECAL: near zero.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CCCCC"/>
                </a:solidFill>
              </a:rPr>
              <a:t>HCAL: 0.01–0.02, rises slowly.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CCCCC"/>
                </a:solidFill>
              </a:rPr>
              <a:t>Neither detector alone is enough.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</a:rPr>
              <a:t>E_rec / E_beam Distribution  —  1 GeV Gamma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D0E8F5"/>
                </a:solidFill>
              </a:rPr>
              <a:t>The shape of reconstructed energy tells us resolution and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6_erec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47003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188720"/>
            <a:ext cx="3931920" cy="5303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9CA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>
                <a:solidFill>
                  <a:srgbClr val="FFD700"/>
                </a:solidFill>
              </a:rPr>
              <a:t>What the axes mean</a:t>
            </a:r>
          </a:p>
          <a:p>
            <a:pPr algn="l">
              <a:spcBef>
                <a:spcPts val="200"/>
              </a:spcBef>
            </a:pPr>
            <a:endParaRPr sz="1300" b="1">
              <a:solidFill>
                <a:srgbClr val="FFD700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D0E8F5"/>
                </a:solidFill>
              </a:rPr>
              <a:t>x-axis:  r = E_rec / E_beam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Reconstructed energy divided by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true beam energy, per event.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r = 1.0 is perfect.</a:t>
            </a:r>
          </a:p>
          <a:p>
            <a:pPr algn="l">
              <a:spcBef>
                <a:spcPts val="200"/>
              </a:spcBef>
            </a:pPr>
            <a:endParaRPr sz="1300" b="0">
              <a:solidFill>
                <a:srgbClr val="FFFFFF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D0E8F5"/>
                </a:solidFill>
              </a:rPr>
              <a:t>y-axis:  Counts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How many events fell in each r bin.</a:t>
            </a:r>
          </a:p>
          <a:p>
            <a:pPr algn="l">
              <a:spcBef>
                <a:spcPts val="200"/>
              </a:spcBef>
            </a:pPr>
            <a:endParaRPr sz="1300" b="0">
              <a:solidFill>
                <a:srgbClr val="FFFFFF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D0E8F5"/>
                </a:solidFill>
              </a:rPr>
              <a:t>Red curve:  DCB fit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Bell curve with heavier tails.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Fit extracts μ and σ.</a:t>
            </a:r>
          </a:p>
          <a:p>
            <a:pPr algn="l">
              <a:spcBef>
                <a:spcPts val="200"/>
              </a:spcBef>
            </a:pPr>
            <a:endParaRPr sz="1300" b="0">
              <a:solidFill>
                <a:srgbClr val="FFFFFF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FFD700"/>
                </a:solidFill>
              </a:rPr>
              <a:t>Stats box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5CD65C"/>
                </a:solidFill>
              </a:rPr>
              <a:t>Mean  = 1.01  →  bias near 0%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Sigma = 0.15  →  15% resolution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CCCCC"/>
                </a:solidFill>
              </a:rPr>
              <a:t>                at 1 GeV (expected)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Chi2/NDF = 0.78  →  good fit</a:t>
            </a:r>
          </a:p>
          <a:p>
            <a:pPr algn="l">
              <a:spcBef>
                <a:spcPts val="200"/>
              </a:spcBef>
            </a:pPr>
            <a:endParaRPr sz="1300" b="0">
              <a:solidFill>
                <a:srgbClr val="FFFFFF"/>
              </a:solidFill>
            </a:endParaRP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CCCCC"/>
                </a:solidFill>
              </a:rPr>
              <a:t>Note: left tail = energy leakage.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CCCCCC"/>
                </a:solidFill>
              </a:rPr>
              <a:t>Right tail = shower fluctuations.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</a:rPr>
              <a:t>Gamma:  Resolution &amp; Bias vs Beam Energy  (0.7 – 40 GeV)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D0E8F5"/>
                </a:solidFill>
              </a:rPr>
              <a:t>Does the detector meet requirements? How accurate is reconstruction?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7_gamma_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97280"/>
            <a:ext cx="11887200" cy="36701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303520"/>
            <a:ext cx="5669280" cy="13716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9CA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Resolution (left panel):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y = σ from DCB fit.  x = E_beam.  Dashed lines = requirements  σ = p0/√E + 0.05.  All methods fall below new requirement (p0=0.20) → detector passes.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03520"/>
            <a:ext cx="5760720" cy="13716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9CA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Bias (centre panel):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y = μ from DCB fit.  Ideal = 1.0.  Gamma bias is well-behaved across all methods (0.90–1.06).  Small dip at 0.7 GeV for quadratic equal-weighted (m2 w0).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</a:rPr>
              <a:t>Neutron:  Resolution &amp; Bias vs Beam Energy  (20 – 300 GeV)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D0E8F5"/>
                </a:solidFill>
              </a:rPr>
              <a:t>Equal-weighting struggles at low energy — sqrt-E weighting fixes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8_neutron_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97280"/>
            <a:ext cx="11887200" cy="36701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303520"/>
            <a:ext cx="5669280" cy="13716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9CA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Resolution (left panel):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y = σ from DCB fit.  x = E_beam.  √E-weighted methods (open markers) meet the new requirement (p0=0.35) at most energies.  Equal-weighted methods are worse, especially below 50 GeV.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03520"/>
            <a:ext cx="5760720" cy="13716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9CA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Bias (centre panel):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y = μ from DCB fit.  Equal-weighted methods: μ up to 2–3.5 at 20 GeV  (regression dominated by high-energy events, fails to extrapolate low).  √E-weighted: μ ≈ 1.1–1.3 at 20 GeV — far more controlled.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</a:rPr>
              <a:t>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D0E8F5"/>
                </a:solidFill>
              </a:rPr>
              <a:t>What the data tells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 b="1">
                <a:solidFill>
                  <a:srgbClr val="FFD700"/>
                </a:solidFill>
              </a:rPr>
              <a:t>Energy deposition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FFFFFF"/>
                </a:solidFill>
              </a:rPr>
              <a:t>Gammas are almost entirely ECAL particles — HCAL contribution is 1000× smaller. Neutrons are HCAL particles with essentially zero ECAL signal. Neither sub-detector alone is sufficient — both are required for reconstruction.</a:t>
            </a:r>
          </a:p>
          <a:p>
            <a:pPr algn="l">
              <a:spcBef>
                <a:spcPts val="400"/>
              </a:spcBef>
            </a:pPr>
            <a:endParaRPr sz="1500" b="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FFD700"/>
                </a:solidFill>
              </a:rPr>
              <a:t>Reconstruction distribution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FFFFFF"/>
                </a:solidFill>
              </a:rPr>
              <a:t>At 1 GeV gamma: mean = 1.01 (near-perfect accuracy), sigma = 0.15 (15% resolution). The DCB fit captures the asymmetric tails well (chi2/NDF ≈ 0.78). The left tail is caused by leakage; the right by upward shower fluctuations.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188720"/>
            <a:ext cx="5852160" cy="530352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9CA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 b="1">
                <a:solidFill>
                  <a:srgbClr val="FFD700"/>
                </a:solidFill>
              </a:rPr>
              <a:t>Gamma performance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FFFFFF"/>
                </a:solidFill>
              </a:rPr>
              <a:t>All six reconstruction methods meet the new resolution requirement (20%/√E + 5%) across 0.7–40 GeV. Bias is controlled within ±6%. Linear and quadratic methods perform similarly — ratio method slightly worse at low energy.</a:t>
            </a:r>
          </a:p>
          <a:p>
            <a:pPr algn="l">
              <a:spcBef>
                <a:spcPts val="400"/>
              </a:spcBef>
            </a:pPr>
            <a:endParaRPr sz="1500" b="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FFD700"/>
                </a:solidFill>
              </a:rPr>
              <a:t>Neutron performance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FFFFFF"/>
                </a:solidFill>
              </a:rPr>
              <a:t>√E-weighted methods are clearly superior. Equal-weighted bias reaches 3.5× at 20 GeV — reconstruction is unreliable there. √E-weighted bias stays below 1.35× across all energies tested. Resolution with √E-weighting is close to the new requirement (35%/√E + 5%) but may need further tuning at low energies.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430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</a:rPr>
              <a:t>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D0E8F5"/>
                </a:solidFill>
              </a:rPr>
              <a:t>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0F8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57784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9CA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1">
                <a:solidFill>
                  <a:srgbClr val="FFD700"/>
                </a:solidFill>
              </a:rPr>
              <a:t>Optimise neutron at low energy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The 20–50 GeV range shows the largest bias and worst resolution. Consider energy-dependent regression coefficients or a neural-network-based approach.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57784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9CA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1">
                <a:solidFill>
                  <a:srgbClr val="FFD700"/>
                </a:solidFill>
              </a:rPr>
              <a:t>Validate with full EIC simulation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Current MC uses idealized geometry. Full GEANT4 simulation with beam backgrounds, crossing angle, and realistic hit digitization will stress-test these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40479"/>
            <a:ext cx="557784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9CA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1">
                <a:solidFill>
                  <a:srgbClr val="FFD700"/>
                </a:solidFill>
              </a:rPr>
              <a:t>Extend to ML regression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Linear regression is a baseline. Gradient-boosted trees or a simple feed-forward network using ECAL+HCAL hit maps (not just sums) could reduce σ and bias further.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840479"/>
            <a:ext cx="557784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9CA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1">
                <a:solidFill>
                  <a:srgbClr val="FFD700"/>
                </a:solidFill>
              </a:rPr>
              <a:t>Cross-check with data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Once EIC test-beam data is available, compare MC resolution to real measurements to validate simulation accuracy and calibrate systematic uncertainties.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1563</Words>
  <Application>Microsoft Office PowerPoint</Application>
  <PresentationFormat>Custom</PresentationFormat>
  <Paragraphs>181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Julian Juan</cp:lastModifiedBy>
  <cp:revision>1</cp:revision>
  <dcterms:created xsi:type="dcterms:W3CDTF">2013-01-27T09:14:16Z</dcterms:created>
  <dcterms:modified xsi:type="dcterms:W3CDTF">2026-06-24T02:32:29Z</dcterms:modified>
  <cp:category/>
</cp:coreProperties>
</file>