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8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0972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D0E8F5"/>
                </a:solidFill>
              </a:rPr>
              <a:t>EIC  ·  Zero Degree Calorimeter  ·  Monte Carlo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</a:rPr>
              <a:t>ZDC Energy Reconstruction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00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0E8F5"/>
                </a:solidFill>
              </a:rPr>
              <a:t>Gamma (0.7 – 40 GeV)   |   Neutron (20 – 300 GeV)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331720"/>
            <a:ext cx="12188952" cy="36576"/>
          </a:xfrm>
          <a:prstGeom prst="rect">
            <a:avLst/>
          </a:prstGeom>
          <a:solidFill>
            <a:srgbClr val="0F8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256032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600" b="1">
                <a:solidFill>
                  <a:srgbClr val="0F89CA"/>
                </a:solidFill>
              </a:rPr>
              <a:t>Background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FFFFFF"/>
                </a:solidFill>
              </a:rPr>
              <a:t>The Electron-Ion Collider (EIC) will collide electrons with protons and nuclei. The Zero Degree Calorimeter (ZDC) sits at 0° and catches neutral particles (neutrons, photons) that travel straight through the bending magnets.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FFFFFF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89CA"/>
                </a:solidFill>
              </a:rPr>
              <a:t>Goal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FFFFFF"/>
                </a:solidFill>
              </a:rPr>
              <a:t>Determine how well the ZDC can measure the energy of these particles using Monte Carlo simulations, and check if performance meets physics requirements.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560320"/>
            <a:ext cx="3474720" cy="32004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89CA"/>
            </a:solidFill>
          </a:ln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400" b="1">
                <a:solidFill>
                  <a:srgbClr val="FFD700"/>
                </a:solidFill>
              </a:rPr>
              <a:t>Detector layers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FFFFFF"/>
                </a:solidFill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D0E8F5"/>
                </a:solidFill>
              </a:rPr>
              <a:t>ECAL  —  LYSO crystals + SiPM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CCCCCC"/>
                </a:solidFill>
              </a:rPr>
              <a:t>Detects: photons, electrons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FFFFFF"/>
                </a:solidFill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D0E8F5"/>
                </a:solidFill>
              </a:rPr>
              <a:t>HCAL  —  Steel + scintillator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CCCCCC"/>
                </a:solidFill>
              </a:rPr>
              <a:t>Detects: neutrons, hadrons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FFFFFF"/>
                </a:solidFill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FFFFFF"/>
                </a:solidFill>
              </a:rPr>
              <a:t>Both layers needed to fully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FFFFFF"/>
                </a:solidFill>
              </a:rPr>
              <a:t>reconstruct particle energy.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75120"/>
            <a:ext cx="12188952" cy="109728"/>
          </a:xfrm>
          <a:prstGeom prst="rect">
            <a:avLst/>
          </a:prstGeom>
          <a:solidFill>
            <a:srgbClr val="0F8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492240"/>
            <a:ext cx="10972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CCCCCC"/>
                </a:solidFill>
              </a:rPr>
              <a:t>ASIoP  ·  Explore MC-sim data for ZDC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8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11430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>
                <a:solidFill>
                  <a:srgbClr val="FFFFFF"/>
                </a:solidFill>
              </a:rPr>
              <a:t>From Raw Data to Graph Axes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D0E8F5"/>
                </a:solidFill>
              </a:rPr>
              <a:t>Every variable defined — step by step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27432"/>
          </a:xfrm>
          <a:prstGeom prst="rect">
            <a:avLst/>
          </a:prstGeom>
          <a:solidFill>
            <a:srgbClr val="0F8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188720"/>
            <a:ext cx="53949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</a:pPr>
            <a:r>
              <a:rPr sz="1300" b="1">
                <a:solidFill>
                  <a:srgbClr val="FFD700"/>
                </a:solidFill>
              </a:rPr>
              <a:t>Step 1 — Simulation output (raw data)</a:t>
            </a:r>
          </a:p>
          <a:p>
            <a:pPr algn="l">
              <a:spcBef>
                <a:spcPts val="100"/>
              </a:spcBef>
            </a:pPr>
            <a:r>
              <a:rPr sz="1300" b="0">
                <a:solidFill>
                  <a:srgbClr val="D0E8F5"/>
                </a:solidFill>
              </a:rPr>
              <a:t>Each simulated particle event gives:</a:t>
            </a:r>
          </a:p>
          <a:p>
            <a:pPr algn="l">
              <a:spcBef>
                <a:spcPts val="100"/>
              </a:spcBef>
            </a:pPr>
            <a:r>
              <a:rPr sz="1300" b="0">
                <a:solidFill>
                  <a:srgbClr val="FFFF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300" b="0">
                <a:solidFill>
                  <a:srgbClr val="FFFFFF"/>
                </a:solidFill>
              </a:rPr>
              <a:t>  E_beam   True beam energy (GeV). Set by simulation. This is what we want to reconstruct.</a:t>
            </a:r>
          </a:p>
          <a:p>
            <a:pPr algn="l">
              <a:spcBef>
                <a:spcPts val="100"/>
              </a:spcBef>
            </a:pPr>
            <a:r>
              <a:rPr sz="1300" b="0">
                <a:solidFill>
                  <a:srgbClr val="FFFFFF"/>
                </a:solidFill>
              </a:rPr>
              <a:t>  E_ECAL   Energy deposited in the ECAL layer (GeV). Measured signal.</a:t>
            </a:r>
          </a:p>
          <a:p>
            <a:pPr algn="l">
              <a:spcBef>
                <a:spcPts val="100"/>
              </a:spcBef>
            </a:pPr>
            <a:r>
              <a:rPr sz="1300" b="0">
                <a:solidFill>
                  <a:srgbClr val="FFFFFF"/>
                </a:solidFill>
              </a:rPr>
              <a:t>  E_HCAL   Energy deposited in the HCAL layer (GeV). Measured signal.</a:t>
            </a:r>
          </a:p>
          <a:p>
            <a:pPr algn="l">
              <a:spcBef>
                <a:spcPts val="100"/>
              </a:spcBef>
            </a:pPr>
            <a:r>
              <a:rPr sz="1300" b="0">
                <a:solidFill>
                  <a:srgbClr val="FFFF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300" b="0">
                <a:solidFill>
                  <a:srgbClr val="CCCCCC"/>
                </a:solidFill>
              </a:rPr>
              <a:t>These three numbers exist for every event. All other quantities are derived.</a:t>
            </a:r>
          </a:p>
          <a:p>
            <a:pPr algn="l">
              <a:spcBef>
                <a:spcPts val="100"/>
              </a:spcBef>
            </a:pPr>
            <a:r>
              <a:rPr sz="1300" b="0">
                <a:solidFill>
                  <a:srgbClr val="FFFF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300" b="1">
                <a:solidFill>
                  <a:srgbClr val="FFD700"/>
                </a:solidFill>
              </a:rPr>
              <a:t>Step 2 — Energy reconstruction</a:t>
            </a:r>
          </a:p>
          <a:p>
            <a:pPr algn="l">
              <a:spcBef>
                <a:spcPts val="100"/>
              </a:spcBef>
            </a:pPr>
            <a:r>
              <a:rPr sz="1300" b="0">
                <a:solidFill>
                  <a:srgbClr val="D0E8F5"/>
                </a:solidFill>
              </a:rPr>
              <a:t>Combine the two detector signals into one energy estimate:</a:t>
            </a:r>
          </a:p>
          <a:p>
            <a:pPr algn="l">
              <a:spcBef>
                <a:spcPts val="100"/>
              </a:spcBef>
            </a:pPr>
            <a:r>
              <a:rPr sz="1300" b="0">
                <a:solidFill>
                  <a:srgbClr val="FFFF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300" b="0">
                <a:solidFill>
                  <a:srgbClr val="5CD65C"/>
                </a:solidFill>
              </a:rPr>
              <a:t>  E_rec  =  p0 + p1·E_ECAL + p2·E_HCAL</a:t>
            </a:r>
          </a:p>
          <a:p>
            <a:pPr algn="l">
              <a:spcBef>
                <a:spcPts val="100"/>
              </a:spcBef>
            </a:pPr>
            <a:r>
              <a:rPr sz="1300" b="0">
                <a:solidFill>
                  <a:srgbClr val="FFFF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300" b="0">
                <a:solidFill>
                  <a:srgbClr val="FFFFFF"/>
                </a:solidFill>
              </a:rPr>
              <a:t>p0, p1, p2 are fit parameters found by least-squares regression across all simulated events. Three regression methods are used:</a:t>
            </a:r>
          </a:p>
          <a:p>
            <a:pPr algn="l">
              <a:spcBef>
                <a:spcPts val="100"/>
              </a:spcBef>
            </a:pPr>
            <a:r>
              <a:rPr sz="1300" b="0">
                <a:solidFill>
                  <a:srgbClr val="D0E8F5"/>
                </a:solidFill>
              </a:rPr>
              <a:t>  m0 — Linear    m1 — Ratio    m2 — Quadratic</a:t>
            </a:r>
          </a:p>
          <a:p>
            <a:pPr algn="l">
              <a:spcBef>
                <a:spcPts val="100"/>
              </a:spcBef>
            </a:pPr>
            <a:r>
              <a:rPr sz="1300" b="0">
                <a:solidFill>
                  <a:srgbClr val="FFFFFF"/>
                </a:solidFill>
              </a:rPr>
              <a:t>Two weighting schemes:</a:t>
            </a:r>
          </a:p>
          <a:p>
            <a:pPr algn="l">
              <a:spcBef>
                <a:spcPts val="100"/>
              </a:spcBef>
            </a:pPr>
            <a:r>
              <a:rPr sz="1300" b="0">
                <a:solidFill>
                  <a:srgbClr val="D0E8F5"/>
                </a:solidFill>
              </a:rPr>
              <a:t>  w0 — all energies equal weight</a:t>
            </a:r>
          </a:p>
          <a:p>
            <a:pPr algn="l">
              <a:spcBef>
                <a:spcPts val="100"/>
              </a:spcBef>
            </a:pPr>
            <a:r>
              <a:rPr sz="1300" b="0">
                <a:solidFill>
                  <a:srgbClr val="D0E8F5"/>
                </a:solidFill>
              </a:rPr>
              <a:t>  w1 — weight each event by √E_beam  (emphasises low-energy accuracy)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188720"/>
            <a:ext cx="5943600" cy="5303520"/>
          </a:xfrm>
          <a:prstGeom prst="rect">
            <a:avLst/>
          </a:prstGeom>
          <a:solidFill>
            <a:srgbClr val="16213E"/>
          </a:solidFill>
          <a:ln w="12700">
            <a:solidFill>
              <a:srgbClr val="0F89CA"/>
            </a:solidFill>
          </a:ln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</a:pPr>
            <a:r>
              <a:rPr sz="1300" b="1">
                <a:solidFill>
                  <a:srgbClr val="FFD700"/>
                </a:solidFill>
              </a:rPr>
              <a:t>Step 3 — Per-event ratio</a:t>
            </a:r>
          </a:p>
          <a:p>
            <a:pPr algn="l">
              <a:spcBef>
                <a:spcPts val="100"/>
              </a:spcBef>
            </a:pPr>
            <a:r>
              <a:rPr sz="1300" b="0">
                <a:solidFill>
                  <a:srgbClr val="FFFF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300" b="0">
                <a:solidFill>
                  <a:srgbClr val="5CD65C"/>
                </a:solidFill>
              </a:rPr>
              <a:t>  r  =  E_rec / E_beam</a:t>
            </a:r>
          </a:p>
          <a:p>
            <a:pPr algn="l">
              <a:spcBef>
                <a:spcPts val="100"/>
              </a:spcBef>
            </a:pPr>
            <a:r>
              <a:rPr sz="1300" b="0">
                <a:solidFill>
                  <a:srgbClr val="FFFF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300" b="0">
                <a:solidFill>
                  <a:srgbClr val="FFFFFF"/>
                </a:solidFill>
              </a:rPr>
              <a:t>r = 1.0  →  perfect reconstruction</a:t>
            </a:r>
          </a:p>
          <a:p>
            <a:pPr algn="l">
              <a:spcBef>
                <a:spcPts val="100"/>
              </a:spcBef>
            </a:pPr>
            <a:r>
              <a:rPr sz="1300" b="0">
                <a:solidFill>
                  <a:srgbClr val="FFFFFF"/>
                </a:solidFill>
              </a:rPr>
              <a:t>r &gt; 1.0  →  overestimated</a:t>
            </a:r>
          </a:p>
          <a:p>
            <a:pPr algn="l">
              <a:spcBef>
                <a:spcPts val="100"/>
              </a:spcBef>
            </a:pPr>
            <a:r>
              <a:rPr sz="1300" b="0">
                <a:solidFill>
                  <a:srgbClr val="FFFFFF"/>
                </a:solidFill>
              </a:rPr>
              <a:t>r &lt; 1.0  →  underestimated</a:t>
            </a:r>
          </a:p>
          <a:p>
            <a:pPr algn="l">
              <a:spcBef>
                <a:spcPts val="100"/>
              </a:spcBef>
            </a:pPr>
            <a:r>
              <a:rPr sz="1300" b="0">
                <a:solidFill>
                  <a:srgbClr val="FFFF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300" b="1">
                <a:solidFill>
                  <a:srgbClr val="FFD700"/>
                </a:solidFill>
              </a:rPr>
              <a:t>Step 4 — Histogram &amp; DCB fit</a:t>
            </a:r>
          </a:p>
          <a:p>
            <a:pPr algn="l">
              <a:spcBef>
                <a:spcPts val="100"/>
              </a:spcBef>
            </a:pPr>
            <a:r>
              <a:rPr sz="1300" b="0">
                <a:solidFill>
                  <a:srgbClr val="FFFFFF"/>
                </a:solidFill>
              </a:rPr>
              <a:t>Collect r for all events at one beam energy.</a:t>
            </a:r>
          </a:p>
          <a:p>
            <a:pPr algn="l">
              <a:spcBef>
                <a:spcPts val="100"/>
              </a:spcBef>
            </a:pPr>
            <a:r>
              <a:rPr sz="1300" b="0">
                <a:solidFill>
                  <a:srgbClr val="FFFFFF"/>
                </a:solidFill>
              </a:rPr>
              <a:t>Fit with Double Crystal Ball (bell curve with power-law tails).</a:t>
            </a:r>
          </a:p>
          <a:p>
            <a:pPr algn="l">
              <a:spcBef>
                <a:spcPts val="100"/>
              </a:spcBef>
            </a:pPr>
            <a:r>
              <a:rPr sz="1300" b="0">
                <a:solidFill>
                  <a:srgbClr val="D0E8F5"/>
                </a:solidFill>
              </a:rPr>
              <a:t>Extract two numbers:</a:t>
            </a:r>
          </a:p>
          <a:p>
            <a:pPr algn="l">
              <a:spcBef>
                <a:spcPts val="100"/>
              </a:spcBef>
            </a:pPr>
            <a:r>
              <a:rPr sz="1300" b="0">
                <a:solidFill>
                  <a:srgbClr val="FFFF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300" b="0">
                <a:solidFill>
                  <a:srgbClr val="5CD65C"/>
                </a:solidFill>
              </a:rPr>
              <a:t>  μ  (mu)    =  mean of fit  →  bias</a:t>
            </a:r>
          </a:p>
          <a:p>
            <a:pPr algn="l">
              <a:spcBef>
                <a:spcPts val="100"/>
              </a:spcBef>
            </a:pPr>
            <a:r>
              <a:rPr sz="1300" b="0">
                <a:solidFill>
                  <a:srgbClr val="5CD65C"/>
                </a:solidFill>
              </a:rPr>
              <a:t>  σ  (sigma) =  width of fit →  resolution</a:t>
            </a:r>
          </a:p>
          <a:p>
            <a:pPr algn="l">
              <a:spcBef>
                <a:spcPts val="100"/>
              </a:spcBef>
            </a:pPr>
            <a:r>
              <a:rPr sz="1300" b="0">
                <a:solidFill>
                  <a:srgbClr val="FFFF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300" b="1">
                <a:solidFill>
                  <a:srgbClr val="FFD700"/>
                </a:solidFill>
              </a:rPr>
              <a:t>Step 5 — Graph axes</a:t>
            </a:r>
          </a:p>
          <a:p>
            <a:pPr algn="l">
              <a:spcBef>
                <a:spcPts val="100"/>
              </a:spcBef>
            </a:pPr>
            <a:r>
              <a:rPr sz="1300" b="0">
                <a:solidFill>
                  <a:srgbClr val="FFFF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300" b="0">
                <a:solidFill>
                  <a:srgbClr val="FFFFFF"/>
                </a:solidFill>
              </a:rPr>
              <a:t>Slide 5 x-axis:  E_beam (GeV)</a:t>
            </a:r>
          </a:p>
          <a:p>
            <a:pPr algn="l">
              <a:spcBef>
                <a:spcPts val="100"/>
              </a:spcBef>
            </a:pPr>
            <a:r>
              <a:rPr sz="1300" b="0">
                <a:solidFill>
                  <a:srgbClr val="FFFFFF"/>
                </a:solidFill>
              </a:rPr>
              <a:t>Slide 5 y-axis:  mean(E_sub / E_beam)  per beam energy</a:t>
            </a:r>
          </a:p>
          <a:p>
            <a:pPr algn="l">
              <a:spcBef>
                <a:spcPts val="100"/>
              </a:spcBef>
            </a:pPr>
            <a:r>
              <a:rPr sz="1300" b="0">
                <a:solidFill>
                  <a:srgbClr val="FFFFFF"/>
                </a:solidFill>
              </a:rPr>
              <a:t>Slide 6 x-axis:  r = E_rec / E_beam  (single energy)</a:t>
            </a:r>
          </a:p>
          <a:p>
            <a:pPr algn="l">
              <a:spcBef>
                <a:spcPts val="100"/>
              </a:spcBef>
            </a:pPr>
            <a:r>
              <a:rPr sz="1300" b="0">
                <a:solidFill>
                  <a:srgbClr val="FFFFFF"/>
                </a:solidFill>
              </a:rPr>
              <a:t>Slide 6 y-axis:  event count</a:t>
            </a:r>
          </a:p>
          <a:p>
            <a:pPr algn="l">
              <a:spcBef>
                <a:spcPts val="100"/>
              </a:spcBef>
            </a:pPr>
            <a:r>
              <a:rPr sz="1300" b="0">
                <a:solidFill>
                  <a:srgbClr val="FFFFFF"/>
                </a:solidFill>
              </a:rPr>
              <a:t>Slides 7-8 x:    E_beam (GeV)</a:t>
            </a:r>
          </a:p>
          <a:p>
            <a:pPr algn="l">
              <a:spcBef>
                <a:spcPts val="100"/>
              </a:spcBef>
            </a:pPr>
            <a:r>
              <a:rPr sz="1300" b="0">
                <a:solidFill>
                  <a:srgbClr val="FFFFFF"/>
                </a:solidFill>
              </a:rPr>
              <a:t>Slides 7-8 y:    σ (resolution)  or  μ (bias)  from DCB fit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8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11430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>
                <a:solidFill>
                  <a:srgbClr val="FFFFFF"/>
                </a:solidFill>
              </a:rPr>
              <a:t>Method &amp; Thinking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D0E8F5"/>
                </a:solidFill>
              </a:rPr>
              <a:t>How we go from signals to performance numbers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27432"/>
          </a:xfrm>
          <a:prstGeom prst="rect">
            <a:avLst/>
          </a:prstGeom>
          <a:solidFill>
            <a:srgbClr val="0F8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188720"/>
            <a:ext cx="3657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400" b="1">
                <a:solidFill>
                  <a:srgbClr val="FFD700"/>
                </a:solidFill>
              </a:rPr>
              <a:t>Why two detectors?</a:t>
            </a:r>
          </a:p>
          <a:p>
            <a:pPr algn="l">
              <a:spcBef>
                <a:spcPts val="300"/>
              </a:spcBef>
            </a:pPr>
            <a:r>
              <a:rPr sz="1400" b="0">
                <a:solidFill>
                  <a:srgbClr val="FFFFFF"/>
                </a:solidFill>
              </a:rPr>
              <a:t>Gammas deposit ~30–50% of energy in ECAL, almost none in HCAL. Neutrons are the opposite. Using both signals together gives a more complete picture.</a:t>
            </a:r>
          </a:p>
          <a:p>
            <a:pPr algn="l">
              <a:spcBef>
                <a:spcPts val="300"/>
              </a:spcBef>
            </a:pPr>
            <a:r>
              <a:rPr sz="1400" b="0">
                <a:solidFill>
                  <a:srgbClr val="FFFFFF"/>
                </a:solidFill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400" b="1">
                <a:solidFill>
                  <a:srgbClr val="FFD700"/>
                </a:solidFill>
              </a:rPr>
              <a:t>Why regression?</a:t>
            </a:r>
          </a:p>
          <a:p>
            <a:pPr algn="l">
              <a:spcBef>
                <a:spcPts val="300"/>
              </a:spcBef>
            </a:pPr>
            <a:r>
              <a:rPr sz="1400" b="0">
                <a:solidFill>
                  <a:srgbClr val="FFFFFF"/>
                </a:solidFill>
              </a:rPr>
              <a:t>Raw signals are not equal to energy — there is leakage, dead material, and non-linearity. Regression learns the correction from simulation.</a:t>
            </a:r>
          </a:p>
          <a:p>
            <a:pPr algn="l">
              <a:spcBef>
                <a:spcPts val="300"/>
              </a:spcBef>
            </a:pPr>
            <a:r>
              <a:rPr sz="1400" b="0">
                <a:solidFill>
                  <a:srgbClr val="FFFFFF"/>
                </a:solidFill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400" b="1">
                <a:solidFill>
                  <a:srgbClr val="FFD700"/>
                </a:solidFill>
              </a:rPr>
              <a:t>Why √E weighting?</a:t>
            </a:r>
          </a:p>
          <a:p>
            <a:pPr algn="l">
              <a:spcBef>
                <a:spcPts val="300"/>
              </a:spcBef>
            </a:pPr>
            <a:r>
              <a:rPr sz="1400" b="0">
                <a:solidFill>
                  <a:srgbClr val="FFFFFF"/>
                </a:solidFill>
              </a:rPr>
              <a:t>Equal weighting lets high-energy events dominate the fit (they have bigger absolute residuals). √E weighting balances accuracy across the full energy range.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188720"/>
            <a:ext cx="4023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400" b="1">
                <a:solidFill>
                  <a:srgbClr val="FFD700"/>
                </a:solidFill>
              </a:rPr>
              <a:t>Why DCB fit?</a:t>
            </a:r>
          </a:p>
          <a:p>
            <a:pPr algn="l">
              <a:spcBef>
                <a:spcPts val="300"/>
              </a:spcBef>
            </a:pPr>
            <a:r>
              <a:rPr sz="1400" b="0">
                <a:solidFill>
                  <a:srgbClr val="FFFFFF"/>
                </a:solidFill>
              </a:rPr>
              <a:t>Real detector distributions have heavier tails than a pure Gaussian — energy leaking out the sides creates a low-side tail, shower fluctuations create a high-side tail. The Double Crystal Ball handles both.</a:t>
            </a:r>
          </a:p>
          <a:p>
            <a:pPr algn="l">
              <a:spcBef>
                <a:spcPts val="300"/>
              </a:spcBef>
            </a:pPr>
            <a:r>
              <a:rPr sz="1400" b="0">
                <a:solidFill>
                  <a:srgbClr val="FFFFFF"/>
                </a:solidFill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400" b="1">
                <a:solidFill>
                  <a:srgbClr val="FFD700"/>
                </a:solidFill>
              </a:rPr>
              <a:t>The requirement curve</a:t>
            </a:r>
          </a:p>
          <a:p>
            <a:pPr algn="l">
              <a:spcBef>
                <a:spcPts val="300"/>
              </a:spcBef>
            </a:pPr>
            <a:r>
              <a:rPr sz="1400" b="0">
                <a:solidFill>
                  <a:srgbClr val="5CD65C"/>
                </a:solidFill>
              </a:rPr>
              <a:t>σ(E)  =  p0 / √E  +  0.05</a:t>
            </a:r>
          </a:p>
          <a:p>
            <a:pPr algn="l">
              <a:spcBef>
                <a:spcPts val="300"/>
              </a:spcBef>
            </a:pPr>
            <a:r>
              <a:rPr sz="1400" b="0">
                <a:solidFill>
                  <a:srgbClr val="FFFFFF"/>
                </a:solidFill>
              </a:rPr>
              <a:t>Physics demands resolution better than this threshold.</a:t>
            </a:r>
          </a:p>
          <a:p>
            <a:pPr algn="l">
              <a:spcBef>
                <a:spcPts val="300"/>
              </a:spcBef>
            </a:pPr>
            <a:r>
              <a:rPr sz="1400" b="0">
                <a:solidFill>
                  <a:srgbClr val="D0E8F5"/>
                </a:solidFill>
              </a:rPr>
              <a:t>  Gamma:   p0 = 0.20  (new target)</a:t>
            </a:r>
          </a:p>
          <a:p>
            <a:pPr algn="l">
              <a:spcBef>
                <a:spcPts val="300"/>
              </a:spcBef>
            </a:pPr>
            <a:r>
              <a:rPr sz="1400" b="0">
                <a:solidFill>
                  <a:srgbClr val="D0E8F5"/>
                </a:solidFill>
              </a:rPr>
              <a:t>  Neutron: p0 = 0.35  (new target)</a:t>
            </a:r>
          </a:p>
          <a:p>
            <a:pPr algn="l">
              <a:spcBef>
                <a:spcPts val="300"/>
              </a:spcBef>
            </a:pPr>
            <a:r>
              <a:rPr sz="1400" b="0">
                <a:solidFill>
                  <a:srgbClr val="CCCCCC"/>
                </a:solidFill>
              </a:rPr>
              <a:t>The 0.05 floor is irreducible — calibration and geometry limits.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1188720"/>
            <a:ext cx="3657600" cy="5303520"/>
          </a:xfrm>
          <a:prstGeom prst="rect">
            <a:avLst/>
          </a:prstGeom>
          <a:solidFill>
            <a:srgbClr val="16213E"/>
          </a:solidFill>
          <a:ln w="12700">
            <a:solidFill>
              <a:srgbClr val="0F89CA"/>
            </a:solidFill>
          </a:ln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300" b="1">
                <a:solidFill>
                  <a:srgbClr val="FFD700"/>
                </a:solidFill>
              </a:rPr>
              <a:t>6 method combinations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>m0 w0 — Linear, Equal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>m1 w0 — Ratio,  Equal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>m2 w0 — Quadratic, Equal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>m0 w1 — Linear, √E-weighted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>m1 w1 — Ratio,  √E-weighted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>m2 w1 — Quadratic, √E-weighted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D0E8F5"/>
                </a:solidFill>
              </a:rPr>
              <a:t>All six appear on resolution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D0E8F5"/>
                </a:solidFill>
              </a:rPr>
              <a:t>and bias plots. Compare them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D0E8F5"/>
                </a:solidFill>
              </a:rPr>
              <a:t>to find best-performing method.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300" b="1">
                <a:solidFill>
                  <a:srgbClr val="FFD700"/>
                </a:solidFill>
              </a:rPr>
              <a:t>Output files: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CD65C"/>
                </a:solidFill>
              </a:rPr>
              <a:t>res2_1_m{0-2}_w{0-1}_{particle}.root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>Each stores gReso_dcb and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>gBias_dcb — one point per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>beam energy tested.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8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11430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>
                <a:solidFill>
                  <a:srgbClr val="FFFFFF"/>
                </a:solidFill>
              </a:rPr>
              <a:t>Energy Deposition vs Beam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D0E8F5"/>
                </a:solidFill>
              </a:rPr>
              <a:t>How much of the particle's energy does each detector layer actually see?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27432"/>
          </a:xfrm>
          <a:prstGeom prst="rect">
            <a:avLst/>
          </a:prstGeom>
          <a:solidFill>
            <a:srgbClr val="0F8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lide5_energy_du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43000"/>
            <a:ext cx="8229600" cy="44933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95360" y="1188720"/>
            <a:ext cx="3383280" cy="5303520"/>
          </a:xfrm>
          <a:prstGeom prst="rect">
            <a:avLst/>
          </a:prstGeom>
          <a:solidFill>
            <a:srgbClr val="16213E"/>
          </a:solidFill>
          <a:ln w="12700">
            <a:solidFill>
              <a:srgbClr val="0F89CA"/>
            </a:solidFill>
          </a:ln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300" b="1">
                <a:solidFill>
                  <a:srgbClr val="FFD700"/>
                </a:solidFill>
              </a:rPr>
              <a:t>What the axes mean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D0E8F5"/>
                </a:solidFill>
              </a:rPr>
              <a:t>x-axis:  E_beam (GeV)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>True simulated beam energy.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D0E8F5"/>
                </a:solidFill>
              </a:rPr>
              <a:t>y-axis:  E_sub / E_beam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>Fraction of beam energy seen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>by ECAL, HCAL, or both.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>Averaged over all events at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>that beam energy.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300" b="1">
                <a:solidFill>
                  <a:srgbClr val="FFD700"/>
                </a:solidFill>
              </a:rPr>
              <a:t>Observations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>Gamma ECAL: 0.5 → 0.15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CCCCCC"/>
                </a:solidFill>
              </a:rPr>
              <a:t>Falls with energy (saturation).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CCCCCC"/>
                </a:solidFill>
              </a:rPr>
              <a:t>HCAL: tiny (10⁻³ scale).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>Neutron ECAL: near zero.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CCCCCC"/>
                </a:solidFill>
              </a:rPr>
              <a:t>HCAL: 0.01–0.02, rises slowly.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CCCCCC"/>
                </a:solidFill>
              </a:rPr>
              <a:t>Neither detector alone is enough.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8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11430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>
                <a:solidFill>
                  <a:srgbClr val="FFFFFF"/>
                </a:solidFill>
              </a:rPr>
              <a:t>E_rec / E_beam Distribution  —  1 GeV Gamma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D0E8F5"/>
                </a:solidFill>
              </a:rPr>
              <a:t>The shape of reconstructed energy tells us resolution and bias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27432"/>
          </a:xfrm>
          <a:prstGeom prst="rect">
            <a:avLst/>
          </a:prstGeom>
          <a:solidFill>
            <a:srgbClr val="0F8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lide6_erec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6400800" cy="470033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46720" y="1188720"/>
            <a:ext cx="3931920" cy="5303520"/>
          </a:xfrm>
          <a:prstGeom prst="rect">
            <a:avLst/>
          </a:prstGeom>
          <a:solidFill>
            <a:srgbClr val="16213E"/>
          </a:solidFill>
          <a:ln w="12700">
            <a:solidFill>
              <a:srgbClr val="0F89CA"/>
            </a:solidFill>
          </a:ln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300" b="1">
                <a:solidFill>
                  <a:srgbClr val="FFD700"/>
                </a:solidFill>
              </a:rPr>
              <a:t>What the axes mean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D0E8F5"/>
                </a:solidFill>
              </a:rPr>
              <a:t>x-axis:  r = E_rec / E_beam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>Reconstructed energy divided by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>true beam energy, per event.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>r = 1.0 is perfect.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D0E8F5"/>
                </a:solidFill>
              </a:rPr>
              <a:t>y-axis:  Counts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>How many events fell in each r bin.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D0E8F5"/>
                </a:solidFill>
              </a:rPr>
              <a:t>Red curve:  DCB fit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>Bell curve with heavier tails.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>Fit extracts μ and σ.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300" b="1">
                <a:solidFill>
                  <a:srgbClr val="FFD700"/>
                </a:solidFill>
              </a:rPr>
              <a:t>Stats box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CD65C"/>
                </a:solidFill>
              </a:rPr>
              <a:t>Mean  = 1.01  →  bias near 0%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>Sigma = 0.15  →  15% resolution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CCCCCC"/>
                </a:solidFill>
              </a:rPr>
              <a:t>                at 1 GeV (expected)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>Chi2/NDF = 0.78  →  good fit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CCCCCC"/>
                </a:solidFill>
              </a:rPr>
              <a:t>Note: left tail = energy leakage.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CCCCCC"/>
                </a:solidFill>
              </a:rPr>
              <a:t>Right tail = shower fluctuations.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8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11430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>
                <a:solidFill>
                  <a:srgbClr val="FFFFFF"/>
                </a:solidFill>
              </a:rPr>
              <a:t>Gamma:  Resolution &amp; Bias vs Beam Energy  (0.7 – 40 GeV)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D0E8F5"/>
                </a:solidFill>
              </a:rPr>
              <a:t>Does the detector meet requirements? How accurate is reconstruction?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27432"/>
          </a:xfrm>
          <a:prstGeom prst="rect">
            <a:avLst/>
          </a:prstGeom>
          <a:solidFill>
            <a:srgbClr val="0F8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lide7_gamma_res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097280"/>
            <a:ext cx="11887200" cy="36701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5303520"/>
            <a:ext cx="5669280" cy="13716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89CA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D700"/>
                </a:solidFill>
              </a:rPr>
              <a:t>Resolution (left panel):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y = σ from DCB fit.  x = E_beam.  Dashed lines = requirements  σ = p0/√E + 0.05.  All methods fall below new requirement (p0=0.20) → detector passes.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5303520"/>
            <a:ext cx="5760720" cy="13716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89CA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D700"/>
                </a:solidFill>
              </a:rPr>
              <a:t>Bias (centre panel):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y = μ from DCB fit.  Ideal = 1.0.  Gamma bias is well-behaved across all methods (0.90–1.06).  Small dip at 0.7 GeV for quadratic equal-weighted (m2 w0).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8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11430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>
                <a:solidFill>
                  <a:srgbClr val="FFFFFF"/>
                </a:solidFill>
              </a:rPr>
              <a:t>Neutron:  Resolution &amp; Bias vs Beam Energy  (20 – 300 GeV)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D0E8F5"/>
                </a:solidFill>
              </a:rPr>
              <a:t>Equal-weighting struggles at low energy — sqrt-E weighting fixes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27432"/>
          </a:xfrm>
          <a:prstGeom prst="rect">
            <a:avLst/>
          </a:prstGeom>
          <a:solidFill>
            <a:srgbClr val="0F8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lide8_neutron_res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097280"/>
            <a:ext cx="11887200" cy="36701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5303520"/>
            <a:ext cx="5669280" cy="13716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89CA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D700"/>
                </a:solidFill>
              </a:rPr>
              <a:t>Resolution (left panel):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y = σ from DCB fit.  x = E_beam.  √E-weighted methods (open markers) meet the new requirement (p0=0.35) at most energies.  Equal-weighted methods are worse, especially below 50 GeV.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5303520"/>
            <a:ext cx="5760720" cy="13716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89CA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D700"/>
                </a:solidFill>
              </a:rPr>
              <a:t>Bias (centre panel):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y = μ from DCB fit.  Equal-weighted methods: μ up to 2–3.5 at 20 GeV  (regression dominated by high-energy events, fails to extrapolate low).  √E-weighted: μ ≈ 1.1–1.3 at 20 GeV — far more controlled.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8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11430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>
                <a:solidFill>
                  <a:srgbClr val="FFFFFF"/>
                </a:solidFill>
              </a:rPr>
              <a:t>Observations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D0E8F5"/>
                </a:solidFill>
              </a:rPr>
              <a:t>What the data tells us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27432"/>
          </a:xfrm>
          <a:prstGeom prst="rect">
            <a:avLst/>
          </a:prstGeom>
          <a:solidFill>
            <a:srgbClr val="0F8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53949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500" b="1">
                <a:solidFill>
                  <a:srgbClr val="FFD700"/>
                </a:solidFill>
              </a:rPr>
              <a:t>Energy deposition</a:t>
            </a:r>
          </a:p>
          <a:p>
            <a:pPr algn="l">
              <a:spcBef>
                <a:spcPts val="400"/>
              </a:spcBef>
            </a:pPr>
            <a:r>
              <a:rPr sz="1500" b="0">
                <a:solidFill>
                  <a:srgbClr val="FFFFFF"/>
                </a:solidFill>
              </a:rPr>
              <a:t>Gammas are almost entirely ECAL particles — HCAL contribution is 1000× smaller. Neutrons are HCAL particles with essentially zero ECAL signal. Neither sub-detector alone is sufficient — both are required for reconstruction.</a:t>
            </a:r>
          </a:p>
          <a:p>
            <a:pPr algn="l">
              <a:spcBef>
                <a:spcPts val="400"/>
              </a:spcBef>
            </a:pPr>
            <a:r>
              <a:rPr sz="1500" b="0">
                <a:solidFill>
                  <a:srgbClr val="FFFFFF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500" b="1">
                <a:solidFill>
                  <a:srgbClr val="FFD700"/>
                </a:solidFill>
              </a:rPr>
              <a:t>Reconstruction distribution</a:t>
            </a:r>
          </a:p>
          <a:p>
            <a:pPr algn="l">
              <a:spcBef>
                <a:spcPts val="400"/>
              </a:spcBef>
            </a:pPr>
            <a:r>
              <a:rPr sz="1500" b="0">
                <a:solidFill>
                  <a:srgbClr val="FFFFFF"/>
                </a:solidFill>
              </a:rPr>
              <a:t>At 1 GeV gamma: mean = 1.01 (near-perfect accuracy), sigma = 0.15 (15% resolution). The DCB fit captures the asymmetric tails well (chi2/NDF ≈ 0.78). The left tail is caused by leakage; the right by upward shower fluctuations.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188720"/>
            <a:ext cx="5852160" cy="5303520"/>
          </a:xfrm>
          <a:prstGeom prst="rect">
            <a:avLst/>
          </a:prstGeom>
          <a:solidFill>
            <a:srgbClr val="16213E"/>
          </a:solidFill>
          <a:ln w="12700">
            <a:solidFill>
              <a:srgbClr val="0F89CA"/>
            </a:solidFill>
          </a:ln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500" b="1">
                <a:solidFill>
                  <a:srgbClr val="FFD700"/>
                </a:solidFill>
              </a:rPr>
              <a:t>Gamma performance</a:t>
            </a:r>
          </a:p>
          <a:p>
            <a:pPr algn="l">
              <a:spcBef>
                <a:spcPts val="400"/>
              </a:spcBef>
            </a:pPr>
            <a:r>
              <a:rPr sz="1500" b="0">
                <a:solidFill>
                  <a:srgbClr val="FFFFFF"/>
                </a:solidFill>
              </a:rPr>
              <a:t>All six reconstruction methods meet the new resolution requirement (20%/√E + 5%) across 0.7–40 GeV. Bias is controlled within ±6%. Linear and quadratic methods perform similarly — ratio method slightly worse at low energy.</a:t>
            </a:r>
          </a:p>
          <a:p>
            <a:pPr algn="l">
              <a:spcBef>
                <a:spcPts val="400"/>
              </a:spcBef>
            </a:pPr>
            <a:r>
              <a:rPr sz="1500" b="0">
                <a:solidFill>
                  <a:srgbClr val="FFFFFF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500" b="1">
                <a:solidFill>
                  <a:srgbClr val="FFD700"/>
                </a:solidFill>
              </a:rPr>
              <a:t>Neutron performance</a:t>
            </a:r>
          </a:p>
          <a:p>
            <a:pPr algn="l">
              <a:spcBef>
                <a:spcPts val="400"/>
              </a:spcBef>
            </a:pPr>
            <a:r>
              <a:rPr sz="1500" b="0">
                <a:solidFill>
                  <a:srgbClr val="FFFFFF"/>
                </a:solidFill>
              </a:rPr>
              <a:t>√E-weighted methods are clearly superior. Equal-weighted bias reaches 3.5× at 20 GeV — reconstruction is unreliable there. √E-weighted bias stays below 1.35× across all energies tested. Resolution with √E-weighting is close to the new requirement (35%/√E + 5%) but may need further tuning at low energies.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8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11430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>
                <a:solidFill>
                  <a:srgbClr val="FFFFFF"/>
                </a:solidFill>
              </a:rPr>
              <a:t>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D0E8F5"/>
                </a:solidFill>
              </a:rPr>
              <a:t>What comes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27432"/>
          </a:xfrm>
          <a:prstGeom prst="rect">
            <a:avLst/>
          </a:prstGeom>
          <a:solidFill>
            <a:srgbClr val="0F8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80160"/>
            <a:ext cx="5577840" cy="22860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89CA"/>
            </a:solidFill>
          </a:ln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1">
                <a:solidFill>
                  <a:srgbClr val="FFD700"/>
                </a:solidFill>
              </a:rPr>
              <a:t>Optimise neutron at low energy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FFFFFF"/>
                </a:solidFill>
              </a:rPr>
              <a:t>The 20–50 GeV range shows the largest bias and worst resolution. Consider energy-dependent regression coefficients or a neural-network-based approach.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280160"/>
            <a:ext cx="5577840" cy="22860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89CA"/>
            </a:solidFill>
          </a:ln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1">
                <a:solidFill>
                  <a:srgbClr val="FFD700"/>
                </a:solidFill>
              </a:rPr>
              <a:t>Validate with full EIC simulation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FFFFFF"/>
                </a:solidFill>
              </a:rPr>
              <a:t>Current MC uses idealized geometry. Full GEANT4 simulation with beam backgrounds, crossing angle, and realistic hit digitization will stress-test these results.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840479"/>
            <a:ext cx="5577840" cy="22860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89CA"/>
            </a:solidFill>
          </a:ln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1">
                <a:solidFill>
                  <a:srgbClr val="FFD700"/>
                </a:solidFill>
              </a:rPr>
              <a:t>Extend to ML regression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FFFFFF"/>
                </a:solidFill>
              </a:rPr>
              <a:t>Linear regression is a baseline. Gradient-boosted trees or a simple feed-forward network using ECAL+HCAL hit maps (not just sums) could reduce σ and bias further.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3840479"/>
            <a:ext cx="5577840" cy="22860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89CA"/>
            </a:solidFill>
          </a:ln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1">
                <a:solidFill>
                  <a:srgbClr val="FFD700"/>
                </a:solidFill>
              </a:rPr>
              <a:t>Cross-check with data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FFFFFF"/>
                </a:solidFill>
              </a:rPr>
              <a:t>Once EIC test-beam data is available, compare MC resolution to real measurements to validate simulation accuracy and calibrate systematic uncertainties.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