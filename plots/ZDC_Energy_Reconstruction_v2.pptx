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91440"/>
            <a:ext cx="41148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58600" y="0"/>
            <a:ext cx="411480" cy="411480"/>
          </a:xfrm>
          <a:prstGeom prst="rect">
            <a:avLst/>
          </a:prstGeom>
          <a:solidFill>
            <a:srgbClr val="4E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</a:rPr>
              <a:t>ZDC Energy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62626"/>
                </a:solidFill>
              </a:rPr>
              <a:t>Gamma (0.7 – 40 GeV)   |   Neutron (20 – 300 GeV)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703320"/>
            <a:ext cx="12188952" cy="502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698748"/>
            <a:ext cx="1097280" cy="5943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</a:rPr>
              <a:t>EIC  ·  Zero Degree Calorimeter  ·  Monte Carlo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</a:rPr>
              <a:t>ASIoP  ·  Academia Sinica  ·  Taiwan Group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75120"/>
            <a:ext cx="12188952" cy="91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702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2026/06/24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6702552"/>
            <a:ext cx="487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ZDC Energy Reconstruction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7025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91440"/>
            <a:ext cx="41148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58600" y="0"/>
            <a:ext cx="411480" cy="411480"/>
          </a:xfrm>
          <a:prstGeom prst="rect">
            <a:avLst/>
          </a:prstGeom>
          <a:solidFill>
            <a:srgbClr val="4E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55548"/>
            <a:ext cx="1097280" cy="5943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91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702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2026/06/24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702552"/>
            <a:ext cx="487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ZDC Energy Reconstruction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7025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</a:rPr>
              <a:t>2/9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800" b="1">
                <a:solidFill>
                  <a:srgbClr val="2E75B6"/>
                </a:solidFill>
              </a:rPr>
              <a:t>What is the EIC and ZDC?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508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</a:rPr>
              <a:t>The Electron-Ion Collider (EIC) collides electrons with protons and heavy nuclei to study the internal structure of matter. The Zero Degree Calorimeter (ZDC) sits at 0 degrees at the end of the beamline, catching neutral particles that fly straight through the bending magnets — primarily neutrons and photons (gammas).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468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800" b="1">
                <a:solidFill>
                  <a:srgbClr val="2E75B6"/>
                </a:solidFill>
              </a:rPr>
              <a:t>Detector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34640"/>
            <a:ext cx="5394960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262626"/>
                </a:solidFill>
              </a:rPr>
              <a:t>ECAL  —  Electromagnetic Calorimeter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262626"/>
                </a:solidFill>
              </a:rPr>
              <a:t>  Material:   LYSO crystal + SiPM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262626"/>
                </a:solidFill>
              </a:rPr>
              <a:t>  Size:       20x20 cells, 3x3x7 cm/cell, 60x60 cm total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262626"/>
                </a:solidFill>
              </a:rPr>
              <a:t>  Detects:    photons, electrons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262626"/>
                </a:solidFill>
              </a:rPr>
              <a:t>  Radiation length:  7 cm ~ 6.5 X0 in 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834640"/>
            <a:ext cx="5852160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300" b="1">
                <a:solidFill>
                  <a:srgbClr val="262626"/>
                </a:solidFill>
              </a:rPr>
              <a:t>HCAL  —  Hadronic Calorimeter (sampling)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262626"/>
                </a:solidFill>
              </a:rPr>
              <a:t>  Material:   steel absorber + scintillator tile + SiPM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262626"/>
                </a:solidFill>
              </a:rPr>
              <a:t>  Size:       64 layers, 65x60 cm face, 163 cm deep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262626"/>
                </a:solidFill>
              </a:rPr>
              <a:t>  Detects:    neutrons, hadrons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262626"/>
                </a:solidFill>
              </a:rPr>
              <a:t>  Layer:      1 steel + 1 scintillator per sampling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92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800" b="1">
                <a:solidFill>
                  <a:srgbClr val="2E75B6"/>
                </a:solidFill>
              </a:rPr>
              <a:t>Goal of this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257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0">
                <a:solidFill>
                  <a:srgbClr val="262626"/>
                </a:solidFill>
              </a:rPr>
              <a:t>Using Monte Carlo simulation with a 25-degree opening angle beam spread, determine how well the ZDC reconstructs the energy of incident gammas (0.7 – 40 GeV) and neutrons (20 – 300 GeV), and verify whether performance meets the EIC physics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91440"/>
            <a:ext cx="41148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58600" y="0"/>
            <a:ext cx="411480" cy="411480"/>
          </a:xfrm>
          <a:prstGeom prst="rect">
            <a:avLst/>
          </a:prstGeom>
          <a:solidFill>
            <a:srgbClr val="4E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</a:rPr>
              <a:t>From Raw Data to Graph Axes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55548"/>
            <a:ext cx="1097280" cy="5943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91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702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2026/06/24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702552"/>
            <a:ext cx="487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ZDC Energy Reconstruction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7025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</a:rPr>
              <a:t>3/9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Step 1 — Simulation output (raw data)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463040"/>
            <a:ext cx="5394960" cy="2011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E_beam   True beam energy (GeV)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Set by simulation. What we want to reconstruct.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E_ECAL   Energy deposited in ECAL layer (GeV)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Measured detector signal.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E_HCAL   Energy deposited in HCAL layer (GeV)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Measured detector signal.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11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Step 2 — Energy reconstruction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77639"/>
            <a:ext cx="5394960" cy="1691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E_rec = p0 + p1*E_ECAL + p2*E_HCAL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p0, p1, p2 fit by least-squares regression.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3 methods (m0 linear / m1 ratio / m2 quadratic).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2 weightings (w0 equal / w1 sqrt(E_beam)).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0972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Step 3 — Per-event ratio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463040"/>
            <a:ext cx="5852160" cy="13716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r  =  E_rec / E_beam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r = 1.0  -&gt;  perfect reconstruction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r &gt; 1.0  -&gt;  overestimated energy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r &lt; 1.0  -&gt;  underestimated energy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9718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Step 4 — DCB fit on r distribution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3337560"/>
            <a:ext cx="5852160" cy="12344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mu    = mean  of fit  -&gt;  BIAS value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sigma = width of fit  -&gt;  RESOLUTION value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Bell curve with power-law tails (DCB).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7091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Step 5 — What each graph axis 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5074920"/>
            <a:ext cx="5852160" cy="14630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Slide 5  x: E_beam     y: mean(E_sub/E_beam)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Slide 6  x: E_rec/E_beam    y: event count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Slide 7-8  x: E_beam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  y: sigma (resolution plot)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  y: mu    (bias plot)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91440"/>
            <a:ext cx="41148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58600" y="0"/>
            <a:ext cx="411480" cy="411480"/>
          </a:xfrm>
          <a:prstGeom prst="rect">
            <a:avLst/>
          </a:prstGeom>
          <a:solidFill>
            <a:srgbClr val="4E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55548"/>
            <a:ext cx="1097280" cy="5943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91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702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2026/06/24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702552"/>
            <a:ext cx="487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ZDC Energy Reconstruction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7025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</a:rPr>
              <a:t>4/9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143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Why two detectors?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55448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>
                <a:solidFill>
                  <a:srgbClr val="262626"/>
                </a:solidFill>
              </a:rPr>
              <a:t>Gammas deposit 20-60% of energy in ECAL, almost nothing in HCAL. Neutrons are the opposite — nearly all energy in HCAL. Using both signals together gives a complete picture.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143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Why regression?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55448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>
                <a:solidFill>
                  <a:srgbClr val="262626"/>
                </a:solidFill>
              </a:rPr>
              <a:t>Raw signals are not equal to energy. There is leakage, dead material, and detector non-linearity. Regression learns the correction from simulation.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143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Why sqrt(E) weighting?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55448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>
                <a:solidFill>
                  <a:srgbClr val="262626"/>
                </a:solidFill>
              </a:rPr>
              <a:t>Equal weighting lets high-energy events dominate the fit (bigger absolute residuals in GeV). sqrt(E_beam) weighting balances accuracy across the full energy range.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108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Why DCB fit?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520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>
                <a:solidFill>
                  <a:srgbClr val="262626"/>
                </a:solidFill>
              </a:rPr>
              <a:t>Real shower distributions have heavier tails than a Gaussian — energy leaking out the sides creates a slow left tail; upward shower fluctuations create a slow right tail. The Double Crystal Ball uses a Gaussian core with power-law tails to match this.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434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The requirement curve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846320"/>
            <a:ext cx="5394960" cy="18288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sigma(E) = p0 / sqrt(E)  +  0.05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p0/sqrt(E)  stochastic term: shower fluctuations scale as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   1/sqrt(E) from Poisson statistics.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0.05        constant floor: calibration, dead material,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   leakage — cannot improve with more energy.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846320"/>
            <a:ext cx="5852160" cy="18288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Gamma requirement:   p0 = 0.20 (new)   p0 = 0.35 (old)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Neutron requirement: p0 = 0.35 (new)   p0 = 0.50 (old)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6 method/weighting combos tested: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m0w0  m1w0  m2w0  (equal-weighted)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m0w1  m1w1  m2w1  (sqrt(E)-weighted)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91440"/>
            <a:ext cx="41148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58600" y="0"/>
            <a:ext cx="411480" cy="411480"/>
          </a:xfrm>
          <a:prstGeom prst="rect">
            <a:avLst/>
          </a:prstGeom>
          <a:solidFill>
            <a:srgbClr val="4E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</a:rPr>
              <a:t>Energy Dump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55548"/>
            <a:ext cx="1097280" cy="5943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91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702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2026/06/24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702552"/>
            <a:ext cx="487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ZDC Energy Reconstruction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7025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</a:rPr>
              <a:t>5/9</a:t>
            </a:r>
          </a:p>
        </p:txBody>
      </p:sp>
      <p:pic>
        <p:nvPicPr>
          <p:cNvPr id="11" name="Picture 10" descr="slide5_energy_du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138160" cy="44433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392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1">
                <a:solidFill>
                  <a:srgbClr val="2E75B6"/>
                </a:solidFill>
              </a:rPr>
              <a:t>Axes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508760"/>
            <a:ext cx="3474720" cy="1417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x-axis:  E_beam (GeV)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True simulated beam energy.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y-axis:  E_sub / E_beam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Fraction of beam energy seen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by one detector layer.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063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1">
                <a:solidFill>
                  <a:srgbClr val="2E75B6"/>
                </a:solidFill>
              </a:rPr>
              <a:t>Observations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429000"/>
            <a:ext cx="3474720" cy="3154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Gamma (top row):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ECAL fraction 0.5 -&gt; 0.15.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Falls with energy (saturation).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HCAL fraction ~10^-3 — tiny.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Gammas are ECAL particles.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Neutron (bottom row):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ECAL fraction ~0 — near zero.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HCAL fraction 0.01 – 0.02.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Neutrons are HCAL particles.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Neither detector alone is enough.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91440"/>
            <a:ext cx="41148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58600" y="0"/>
            <a:ext cx="411480" cy="411480"/>
          </a:xfrm>
          <a:prstGeom prst="rect">
            <a:avLst/>
          </a:prstGeom>
          <a:solidFill>
            <a:srgbClr val="4E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</a:rPr>
              <a:t>E_rec / E_beam Distribution  —  1 GeV Gamma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55548"/>
            <a:ext cx="1097280" cy="5943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91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702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2026/06/24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702552"/>
            <a:ext cx="487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ZDC Energy Reconstruction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7025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</a:rPr>
              <a:t>6/9</a:t>
            </a:r>
          </a:p>
        </p:txBody>
      </p:sp>
      <p:pic>
        <p:nvPicPr>
          <p:cNvPr id="11" name="Picture 10" descr="slide6_erec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6583680" cy="48346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55279" y="1143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1">
                <a:solidFill>
                  <a:srgbClr val="2E75B6"/>
                </a:solidFill>
              </a:rPr>
              <a:t>Axes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508760"/>
            <a:ext cx="393192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x-axis:  r = E_rec / E_beam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Reconstructed over true energy.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r = 1.0 is perfect.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y-axis:  Counts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Events per r bin.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Red curve:  DCB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291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1">
                <a:solidFill>
                  <a:srgbClr val="2E75B6"/>
                </a:solidFill>
              </a:rPr>
              <a:t>Observations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3657600"/>
            <a:ext cx="3931920" cy="29260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Mean  = 1.01 -&gt; bias &lt; 1%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Near-perfect reconstruction.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Sigma = 0.15 -&gt; 15% resolution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Expected: 1/sqrt(1 GeV) term large.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Chi2/NDF = 0.78 -&gt; good fit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Left tail:  energy leakage out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            detector sides/back.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Right tail: upward shower fluct.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91440"/>
            <a:ext cx="41148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58600" y="0"/>
            <a:ext cx="411480" cy="411480"/>
          </a:xfrm>
          <a:prstGeom prst="rect">
            <a:avLst/>
          </a:prstGeom>
          <a:solidFill>
            <a:srgbClr val="4E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</a:rPr>
              <a:t>Gamma:  Resolution &amp; Bias  (0.7 – 40 GeV)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55548"/>
            <a:ext cx="1097280" cy="5943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91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702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2026/06/24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702552"/>
            <a:ext cx="487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ZDC Energy Reconstruction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7025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</a:rPr>
              <a:t>7/9</a:t>
            </a:r>
          </a:p>
        </p:txBody>
      </p:sp>
      <p:pic>
        <p:nvPicPr>
          <p:cNvPr id="11" name="Picture 10" descr="slide7_gamma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11978640" cy="369835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82880" y="5230368"/>
            <a:ext cx="5760720" cy="14630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Resolution (left panel):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y = sigma from DCB fit,  x = E_beam.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Dashed lines = requirement curves sigma = p0/sqrt(E) + 0.05.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All methods fall below the new requirement (p0 = 0.20).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Detector passes for gamma.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5230368"/>
            <a:ext cx="5760720" cy="14630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Bias (centre panel):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y = mu from DCB fit,  ideal = 1.0.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All methods within 0.90 – 1.06 across full energy range.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Small dip at 0.7 GeV for quadratic equal-weighted (m2 w0).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Gamma bias is well-controlled for all methods.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91440"/>
            <a:ext cx="41148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58600" y="0"/>
            <a:ext cx="411480" cy="411480"/>
          </a:xfrm>
          <a:prstGeom prst="rect">
            <a:avLst/>
          </a:prstGeom>
          <a:solidFill>
            <a:srgbClr val="4E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</a:rPr>
              <a:t>Neutron:  Resolution &amp; Bias  (20 – 300 GeV)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55548"/>
            <a:ext cx="1097280" cy="5943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91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702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2026/06/24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702552"/>
            <a:ext cx="487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ZDC Energy Reconstruction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7025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</a:rPr>
              <a:t>8/9</a:t>
            </a:r>
          </a:p>
        </p:txBody>
      </p:sp>
      <p:pic>
        <p:nvPicPr>
          <p:cNvPr id="11" name="Picture 10" descr="slide8_neutron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11978640" cy="369835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82880" y="5230368"/>
            <a:ext cx="5760720" cy="14630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Resolution (left panel):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y = sigma from DCB fit,  x = E_beam.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sqrt(E)-weighted methods (open markers) meet the new requirement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(p0 = 0.35) at most energies.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Equal-weighted methods are worse, especially below 50 GeV.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5230368"/>
            <a:ext cx="5760720" cy="14630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Bias (centre panel):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Equal-weighted: mu up to 2 – 3.5 at 20 GeV.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Regression dominated by high-E events, fails at low energy.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sqrt(E)-weighted: mu = 1.1 – 1.3 at 20 GeV. Far more controlled.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sqrt(E) weighting is the recommended method for neutrons.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91440"/>
            <a:ext cx="41148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58600" y="0"/>
            <a:ext cx="411480" cy="411480"/>
          </a:xfrm>
          <a:prstGeom prst="rect">
            <a:avLst/>
          </a:prstGeom>
          <a:solidFill>
            <a:srgbClr val="4E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</a:rPr>
              <a:t>Observations &amp; Outlook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55548"/>
            <a:ext cx="1097280" cy="5943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91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702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2026/06/24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702552"/>
            <a:ext cx="4873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ZDC Energy Reconstruction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7025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</a:rPr>
              <a:t>9/9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700" b="1">
                <a:solidFill>
                  <a:srgbClr val="2E75B6"/>
                </a:solidFill>
              </a:rPr>
              <a:t>Observations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481328"/>
            <a:ext cx="5394960" cy="23317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Gamma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All 6 methods meet the new resolution requirement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(20%/sqrt(E) + 5%) across 0.7 – 40 GeV.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Bias controlled within +/- 6% for all methods.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Linear and quadratic perform similarly.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Ratio method slightly worse at low energy.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481328"/>
            <a:ext cx="5852160" cy="23317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Neutron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sqrt(E)-weighted methods are clearly superior.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Equal-weighted bias reaches 3.5x at 20 GeV — unreliable.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sqrt(E)-weighted bias stays below 1.35x across all energies.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Resolution close to new requirement (35%/sqrt(E) + 5%);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may need tuning at low energies.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97763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700" b="1">
                <a:solidFill>
                  <a:srgbClr val="2E75B6"/>
                </a:solidFill>
              </a:rPr>
              <a:t>Outlook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370832"/>
            <a:ext cx="3749039" cy="23317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Optimise neutron at low energy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20–50 GeV range shows largest bias and worst resolution. Consider energy-dependent regression or neural-network approach.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370832"/>
            <a:ext cx="3749039" cy="23317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Validate with full GEANT4 simulation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Current MC is idealized geometry. Full simulation with beam backgrounds, crossing angle, and realistic digitization will stress-test results.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4370832"/>
            <a:ext cx="3749039" cy="23317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262626"/>
                </a:solidFill>
              </a:rPr>
              <a:t>Extend to ML regression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62626"/>
                </a:solidFill>
              </a:rPr>
              <a:t>Linear regression is a baseline. Networks using ECAL+HCAL hit maps (not just sums) could reduce sigma and bias further.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